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0160000" cy="7620000"/>
  <p:notesSz cx="7620000" cy="10160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61" d="100"/>
          <a:sy n="161" d="100"/>
        </p:scale>
        <p:origin x="-1494" y="-84"/>
      </p:cViewPr>
      <p:guideLst>
        <p:guide orient="horz" pos="2400"/>
        <p:guide pos="32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6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1pPr>
            <a:lvl2pPr lvl="1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2pPr>
            <a:lvl3pPr lvl="2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3pPr>
            <a:lvl4pPr lvl="3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4pPr>
            <a:lvl5pPr lvl="4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5pPr>
            <a:lvl6pPr lvl="5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6pPr>
            <a:lvl7pPr lvl="6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7pPr>
            <a:lvl8pPr lvl="7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8pPr>
            <a:lvl9pPr lvl="8" algn="ctr">
              <a:spcBef>
                <a:spcPts val="0"/>
              </a:spcBef>
              <a:buClr>
                <a:srgbClr val="EEEEEE"/>
              </a:buClr>
              <a:buSzPct val="100000"/>
              <a:defRPr sz="4800">
                <a:solidFill>
                  <a:srgbClr val="EEEEEE"/>
                </a:solidFill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1pPr>
            <a:lvl2pPr lvl="1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2pPr>
            <a:lvl3pPr lvl="2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3pPr>
            <a:lvl4pPr lvl="3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4pPr>
            <a:lvl5pPr lvl="4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5pPr>
            <a:lvl6pPr lvl="5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6pPr>
            <a:lvl7pPr lvl="6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7pPr>
            <a:lvl8pPr lvl="7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8pPr>
            <a:lvl9pPr lvl="8" algn="ctr">
              <a:spcBef>
                <a:spcPts val="0"/>
              </a:spcBef>
              <a:buClr>
                <a:srgbClr val="999999"/>
              </a:buClr>
              <a:buSzPct val="100000"/>
              <a:defRPr sz="3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1pPr>
            <a:lvl2pPr lvl="1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2pPr>
            <a:lvl3pPr lvl="2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3pPr>
            <a:lvl4pPr lvl="3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4pPr>
            <a:lvl5pPr lvl="4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5pPr>
            <a:lvl6pPr lvl="5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6pPr>
            <a:lvl7pPr lvl="6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7pPr>
            <a:lvl8pPr lvl="7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8pPr>
            <a:lvl9pPr lvl="8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1pPr>
            <a:lvl2pPr lvl="1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2pPr>
            <a:lvl3pPr lvl="2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3pPr>
            <a:lvl4pPr lvl="3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4pPr>
            <a:lvl5pPr lvl="4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5pPr>
            <a:lvl6pPr lvl="5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6pPr>
            <a:lvl7pPr lvl="6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7pPr>
            <a:lvl8pPr lvl="7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8pPr>
            <a:lvl9pPr lvl="8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1pPr>
            <a:lvl2pPr lvl="1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2pPr>
            <a:lvl3pPr lvl="2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3pPr>
            <a:lvl4pPr lvl="3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4pPr>
            <a:lvl5pPr lvl="4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5pPr>
            <a:lvl6pPr lvl="5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6pPr>
            <a:lvl7pPr lvl="6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7pPr>
            <a:lvl8pPr lvl="7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8pPr>
            <a:lvl9pPr lvl="8">
              <a:spcBef>
                <a:spcPts val="0"/>
              </a:spcBef>
              <a:buClr>
                <a:srgbClr val="EEEEEE"/>
              </a:buClr>
              <a:buSzPct val="99224"/>
              <a:defRPr sz="4266">
                <a:solidFill>
                  <a:srgbClr val="EEEEEE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1pPr>
            <a:lvl2pPr lvl="1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2pPr>
            <a:lvl3pPr lvl="2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3pPr>
            <a:lvl4pPr lvl="3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4pPr>
            <a:lvl5pPr lvl="4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5pPr>
            <a:lvl6pPr lvl="5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6pPr>
            <a:lvl7pPr lvl="6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7pPr>
            <a:lvl8pPr lvl="7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8pPr>
            <a:lvl9pPr lvl="8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1pPr>
            <a:lvl2pPr lvl="1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2pPr>
            <a:lvl3pPr lvl="2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3pPr>
            <a:lvl4pPr lvl="3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4pPr>
            <a:lvl5pPr lvl="4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5pPr>
            <a:lvl6pPr lvl="5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6pPr>
            <a:lvl7pPr lvl="6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7pPr>
            <a:lvl8pPr lvl="7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8pPr>
            <a:lvl9pPr lvl="8">
              <a:spcBef>
                <a:spcPts val="0"/>
              </a:spcBef>
              <a:buClr>
                <a:srgbClr val="CCCCCC"/>
              </a:buClr>
              <a:buSzPct val="98765"/>
              <a:defRPr sz="2666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1pPr>
            <a:lvl2pPr lvl="1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2pPr>
            <a:lvl3pPr lvl="2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3pPr>
            <a:lvl4pPr lvl="3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4pPr>
            <a:lvl5pPr lvl="4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5pPr>
            <a:lvl6pPr lvl="5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6pPr>
            <a:lvl7pPr lvl="6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7pPr>
            <a:lvl8pPr lvl="7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8pPr>
            <a:lvl9pPr lvl="8" algn="ctr">
              <a:spcBef>
                <a:spcPts val="0"/>
              </a:spcBef>
              <a:buClr>
                <a:srgbClr val="CCCCCC"/>
              </a:buClr>
              <a:buSzPct val="100000"/>
              <a:defRPr sz="32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h6px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qRhX5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bit.ly/9fTgF6" TargetMode="External"/><Relationship Id="rId4" Type="http://schemas.openxmlformats.org/officeDocument/2006/relationships/hyperlink" Target="http://bit.ly/aNPaDp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a0W1Op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rtMh5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RPWna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407399" cy="12954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00825" y="1823275"/>
            <a:ext cx="9625900" cy="5554674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스타일을 입힐 대상을 지정하는 방법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요즘에는 자바스크립트에서 원하는 엘리먼트 객체를 찾아내는 용도로도 애용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24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240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type="checkbox"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2400">
                <a:solidFill>
                  <a:srgbClr val="FFD966"/>
                </a:solidFill>
                <a:latin typeface="courier new"/>
                <a:ea typeface="courier new"/>
                <a:cs typeface="courier new"/>
                <a:sym typeface="courier new"/>
              </a:rPr>
              <a:t>id="author"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class="</a:t>
            </a:r>
            <a:r>
              <a:rPr lang="en-US" sz="240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r>
              <a:rPr lang="en-US" sz="2400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 bar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2400">
                <a:solidFill>
                  <a:srgbClr val="C27BA0"/>
                </a:solidFill>
                <a:latin typeface="courier new"/>
                <a:ea typeface="courier new"/>
                <a:cs typeface="courier new"/>
                <a:sym typeface="courier new"/>
              </a:rPr>
              <a:t>checked="checked"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2400" b="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[type=checkbox]</a:t>
            </a:r>
            <a:r>
              <a:rPr lang="en-US" sz="2400" b="0">
                <a:solidFill>
                  <a:srgbClr val="FFD966"/>
                </a:solidFill>
                <a:latin typeface="courier new"/>
                <a:ea typeface="courier new"/>
                <a:cs typeface="courier new"/>
                <a:sym typeface="courier new"/>
              </a:rPr>
              <a:t>#author</a:t>
            </a:r>
            <a:r>
              <a:rPr lang="en-US" sz="2400" b="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.foo</a:t>
            </a:r>
            <a:r>
              <a:rPr lang="en-US" sz="2400" b="0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.bar</a:t>
            </a:r>
            <a:r>
              <a:rPr lang="en-US" sz="2400" b="0">
                <a:solidFill>
                  <a:srgbClr val="C27BA0"/>
                </a:solidFill>
                <a:latin typeface="courier new"/>
                <a:ea typeface="courier new"/>
                <a:cs typeface="courier new"/>
                <a:sym typeface="courier new"/>
              </a:rPr>
              <a:t>:checked</a:t>
            </a:r>
            <a:r>
              <a:rPr lang="en-US" sz="2400" b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color:#f00;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var elTar =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document.querySelector('input[type=checkbox]#author.foo.bar:checked');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05924" cy="54662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selector : 엘리먼트의 속성 및 상태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Universal selector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Type selector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Attribute selector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Class selector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ID selector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Pseudo-class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33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Pseudo-element : 가상 엘리먼트 선택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133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Combinator : 다른 엘리먼트와의 관계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Descendant combinator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Child combinator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Sibling combinator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Adjacent sibling combinator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General sibling combinator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304800" y="4063975"/>
            <a:ext cx="9616674" cy="29754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Selector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 sz="3200" b="1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Universal selector</a:t>
            </a: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Type selector</a:t>
            </a: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Attribute selector</a:t>
            </a: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Class selector</a:t>
            </a: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ID selector</a:t>
            </a: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Pseudo-class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Universal/Type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엘리먼트가 가진 태그명으로 조건을 부여하는 셀렉터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Universal selector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*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{ color:#f00;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Type selector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div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DIV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dIv { color:#f00; }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Universal/Type selector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(Combinator 를 제외하고) 항상 맨 앞에 써야한다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*#foo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div#foo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#foo*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#foodiv { color:#f00;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133">
              <a:solidFill>
                <a:srgbClr val="E0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34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띄어쓰기는 안됨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133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7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*#foo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7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div#foo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7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* #foo { color:#f00;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7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div #foo { color:#f00;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1738">
              <a:solidFill>
                <a:srgbClr val="6FA8D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[title="foo"]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[att~=val]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[title~="foo"]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[att|=val]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[title|="foo"]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Shape 78"/>
          <p:cNvSpPr/>
          <p:nvPr/>
        </p:nvSpPr>
        <p:spPr>
          <a:xfrm>
            <a:off x="6203950" y="514350"/>
            <a:ext cx="2540000" cy="1904999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21600" y="8628"/>
                </a:moveTo>
                <a:cubicBezTo>
                  <a:pt x="21600" y="3863"/>
                  <a:pt x="16763" y="0"/>
                  <a:pt x="10799" y="0"/>
                </a:cubicBezTo>
                <a:cubicBezTo>
                  <a:pt x="4833" y="0"/>
                  <a:pt x="0" y="3863"/>
                  <a:pt x="0" y="8628"/>
                </a:cubicBezTo>
                <a:cubicBezTo>
                  <a:pt x="0" y="12311"/>
                  <a:pt x="2883" y="15453"/>
                  <a:pt x="6947" y="16693"/>
                </a:cubicBezTo>
                <a:cubicBezTo>
                  <a:pt x="7371" y="16821"/>
                  <a:pt x="7356" y="19211"/>
                  <a:pt x="5803" y="21600"/>
                </a:cubicBezTo>
                <a:cubicBezTo>
                  <a:pt x="8571" y="20513"/>
                  <a:pt x="9126" y="17161"/>
                  <a:pt x="9574" y="17203"/>
                </a:cubicBezTo>
                <a:cubicBezTo>
                  <a:pt x="9976" y="17238"/>
                  <a:pt x="10384" y="17257"/>
                  <a:pt x="10799" y="17257"/>
                </a:cubicBezTo>
                <a:cubicBezTo>
                  <a:pt x="16763" y="17257"/>
                  <a:pt x="21600" y="13394"/>
                  <a:pt x="21600" y="8628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" name="Shape 79"/>
          <p:cNvSpPr txBox="1"/>
          <p:nvPr/>
        </p:nvSpPr>
        <p:spPr>
          <a:xfrm>
            <a:off x="8534400" y="304800"/>
            <a:ext cx="1149775" cy="1031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2666" b="0" baseline="-25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3466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6401600" y="908175"/>
            <a:ext cx="2359425" cy="9163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6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[title="foo"]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6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[title^="foo-"]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[att^=val]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[title^="foo"]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 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[att$=val]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[title$="a"]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[att*=val]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[title*="ba"]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Attribute selector</a:t>
            </a:r>
          </a:p>
        </p:txBody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83764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따옴표는 경우에 따라 생략 가능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[title="foo"]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[title=foo]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[title*="foo ba"] { color:#</a:t>
            </a:r>
            <a:r>
              <a:rPr lang="en-US" sz="2666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0f0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101587"/>
              <a:buAutoNum type="arabicPeriod"/>
            </a:pPr>
            <a:r>
              <a:rPr lang="en-US" sz="2133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101587"/>
              <a:buAutoNum type="arabicPeriod"/>
            </a:pPr>
            <a:r>
              <a:rPr lang="en-US" sz="2133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Class selector</a:t>
            </a:r>
          </a:p>
        </p:txBody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.class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.bar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[class~=bar]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ID selector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#id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#baz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[id=baz] { color:</a:t>
            </a:r>
            <a:r>
              <a:rPr lang="en-US" sz="2666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666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&lt;span title="foo"&gt;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1587"/>
              <a:buAutoNum type="arabicPeriod"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&lt;a </a:t>
            </a: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title=""&gt;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class="boo"&gt;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&lt;p id="baz bax" class="fooooo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1587"/>
              <a:buAutoNum type="arabicPeriod"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title="hello foo baz"&gt;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title="foo-alpha"&gt;</a:t>
            </a:r>
          </a:p>
          <a:p>
            <a:pPr marL="762000" marR="0" lvl="0" indent="-1862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101587"/>
              <a:buAutoNum type="arabicPeriod"/>
            </a:pPr>
            <a:r>
              <a:rPr lang="en-US" sz="2133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title="hello foo-beta"&gt;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 혼합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selector 는 섞어씀으로써 and 조건을 표현 할 수 있다.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ul#baz[title="foo bar"].test { color:</a:t>
            </a: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 class="test"&gt;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id="nav"&gt;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&lt;div id="baz" class="n"&gt;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href="#" title="foo bar"&gt;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class="test"&gt;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 혼합</a:t>
            </a:r>
          </a:p>
        </p:txBody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selectors 를 쉼표로 함께씀으로써 or 조건을 표현 할 수 있다.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24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#baz</a:t>
            </a:r>
            <a:r>
              <a:rPr lang="en-US" sz="24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[title="foo bar"]</a:t>
            </a:r>
            <a:r>
              <a:rPr lang="en-US" sz="24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.test { color:</a:t>
            </a: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#ff0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id="baz" title="foo bar" class="test"&gt;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 id="nav"&gt;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 id="baz" class="n"&gt;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href="#" title="foo bar"&gt;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class="test"&gt;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엘리먼트가 가진 상태를 조건으로 지정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:link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아직 방문하지 않은 링크를 가진 anchor 엘리먼트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:visited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이미 방문한 링크를 가진 anchor 엘리먼트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:hover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마우스가 올라와 있는 엘리먼트 (지원할 수 없는 디바이스도 존재)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:active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사용자의 의해 활성화 되어 있는 엘리먼트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:focus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포커스를 가진 엘리먼트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4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 </a:t>
            </a:r>
            <a:r>
              <a:rPr lang="en-US" sz="2243" u="sng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http://bit.ly/bh6pxs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297350" y="1821100"/>
            <a:ext cx="9627624" cy="568104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:target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URL 에 # 를 사용 했을 때 해당 부분의 엘리먼트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 </a:t>
            </a:r>
            <a:r>
              <a:rPr lang="en-US" sz="225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http://bit.ly/bqRhX5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50" u="sng">
              <a:solidFill>
                <a:srgbClr val="CCCCCC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:lang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지정한 lang 속성을 가지고 있는 엘리먼트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 </a:t>
            </a:r>
            <a:r>
              <a:rPr lang="en-US" sz="2133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http://bit.ly/aNPaDp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 u="sng">
              <a:solidFill>
                <a:srgbClr val="CCCCCC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:enabled / :disabled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UI 의 활성화/비활성화 여부에 따른 엘리먼트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 </a:t>
            </a:r>
            <a:r>
              <a:rPr lang="en-US" sz="2146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http://bit.ly/9fTgF6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36" u="sng">
              <a:solidFill>
                <a:srgbClr val="CCCCCC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:checked / :indeterminate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2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체크 된 엘리먼트, 체크가 된 것도 아니고 안 된것도 아닌 엘리먼트</a:t>
            </a:r>
          </a:p>
        </p:txBody>
      </p:sp>
      <p:pic>
        <p:nvPicPr>
          <p:cNvPr id="141" name="Shape 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7200" y="3657600"/>
            <a:ext cx="2601575" cy="25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:root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문서의 최상위 부모 엘리먼트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:nth-child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몇 번째 자식 노드인지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:nth-child(3)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:nth-child(2n) 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0, </a:t>
            </a:r>
            <a:r>
              <a:rPr lang="en-US" sz="2133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2, 4, 6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:nth-child(2n+1) 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133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1, 3, 5, 7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:nth-child(-2n+3) 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133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3, 1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-1, -3...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:nth-child(-3n-1) 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-1, -4, -7, -10...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:nth-child(odd) 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133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1, 3, 5, 7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:nth-child(even) </a:t>
            </a:r>
            <a:r>
              <a:rPr lang="en-US" sz="2133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133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2, 4, 6, 8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:nth-last-child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2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뒤에서부터 몇 번째 자식 노드인지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:nth-of-type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같은 태그의 형제 노드들 중에서 몇 번째인지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:nth-child(2) { color;</a:t>
            </a: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:nth-of-type(2) { color:</a:t>
            </a:r>
            <a:r>
              <a:rPr lang="en-US" sz="2133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&lt;span&gt;hello&lt;/span&gt;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&lt;p&gt;first&lt;/p&gt;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133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&lt;span&gt;world&lt;/span&gt;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&lt;p&gt;second&lt;/p&gt;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&lt;span&gt;test&lt;/span&gt;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&lt;p&gt;third&lt;/p&gt;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:nth-last-of-type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2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같은 태그의 형제 노드들 중에서 뒤에서부터 몇 번째인지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:first-child / :last-child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:nth-child(1) / :nth-last-child(1)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:first-of-type / :last-of-type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:nth-of-type(1) / :nth-last-of-type(1)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:only-child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2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형제가 없는 엘리먼트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22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:only-of-type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같은 태그의 형제가 없는 엘리먼트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 </a:t>
            </a:r>
            <a:r>
              <a:rPr lang="en-US" sz="26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:empty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:empty { color:</a:t>
            </a: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&lt;p&gt;&lt;span&gt;hello&lt;/span&gt;&lt;/p&gt;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&lt;span&gt;&lt;/span&gt;&lt;input type="text" /&gt;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Pseudo-class</a:t>
            </a:r>
          </a:p>
        </p:txBody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:not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모든 걸 뒤집는 pseudo-class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:not(.foo) { color:</a:t>
            </a: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class="foo bar"&gt;&lt;/span&gt;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class="bar baz"&gt;&lt;/span&gt;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class="baz tmp"&gt;&lt;/span&gt;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304800" y="4063975"/>
            <a:ext cx="9616674" cy="29754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Pseudo-Element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 sz="32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Pseudo-Element </a:t>
            </a:r>
            <a:r>
              <a:rPr lang="en-US" sz="26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626599" cy="55626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존재하지 않은 가상의 엘리먼트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:: 를 사용해서 표현한다. 예전에는 Pseudo-Classes 처럼 : 를 사용해서 표현했지만CSS3 가 되면서 바뀌었음.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Selectors 마다 하나의 Pseudo-Element 만 사용 가능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i="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p::first-line::first-letter { 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i="0">
                <a:solidFill>
                  <a:srgbClr val="6FA8DC"/>
                </a:solidFill>
                <a:latin typeface="courier new"/>
                <a:ea typeface="courier new"/>
                <a:cs typeface="courier new"/>
                <a:sym typeface="courier new"/>
              </a:rPr>
              <a:t>p::first-line span::first-letter { 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Pseudo-Element </a:t>
            </a:r>
            <a:r>
              <a:rPr lang="en-US" sz="26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626599" cy="55626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::first-line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p::first-line { color: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::first-letter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p::first-letter {font-size:3em; font-weight:bold; 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 </a:t>
            </a:r>
            <a:r>
              <a:rPr lang="en-US" sz="2400" i="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http://bit.ly/a0W1Op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Pseudo-Element</a:t>
            </a:r>
          </a:p>
        </p:txBody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626599" cy="55626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::before / ::after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span::before { color: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content:"[["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span::after { color:</a:t>
            </a:r>
            <a:r>
              <a:rPr lang="en-US" sz="2400" i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content:"]]"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&lt;span&gt;hello&lt;/span&gt;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lang="en-US" sz="2400" i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sample : </a:t>
            </a:r>
            <a:r>
              <a:rPr lang="en-US" sz="2400" i="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http://bit.ly/brtMh5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626599" cy="990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 i="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사라진 Pseudo-class/element</a:t>
            </a:r>
          </a:p>
        </p:txBody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297350" y="1821350"/>
            <a:ext cx="9616674" cy="55526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:contains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엘리먼트 안에 특정 문자열이 존재하는지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div::contains(ell) { color:</a:t>
            </a: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&lt;div&gt;hello world&lt;/div&gt;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&lt;div&gt;&lt;span&gt;yellow&lt;/span&gt;&lt;/div&gt;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&lt;div&gt;foo bar&lt;/div&gt;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::selection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304800" y="4063975"/>
            <a:ext cx="9616674" cy="29754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Combinator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 sz="32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Combinator</a:t>
            </a:r>
          </a:p>
        </p:txBody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다른 엘리먼트와의 관계를 기준으로 탐색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Selectors 사이에 들어가며 white-space 를 사용 할 수 있다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ex)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body&gt;div + p { color:#f00; }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ul &gt;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span {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color:#f00;</a:t>
            </a:r>
          </a:p>
          <a:p>
            <a:pPr marL="762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Descendant combinator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하위에 있는 모든 엘리먼트가 대상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&lt;span&gt;hello&lt;/span&gt;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&lt;span&gt;one&lt;/span&gt;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    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&lt;span&gt;two&lt;/span&gt;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&lt;span&gt;three&lt;/span&gt;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Child combinator</a:t>
            </a:r>
          </a:p>
        </p:txBody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바로 하위에 있는 모든 엘리먼트가 대상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&lt;span&gt;hello&lt;/span&gt;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&lt;span&gt;one&lt;/span&gt;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    &lt;span&gt;two&lt;/span&gt;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&lt;span&gt;three&lt;/span&gt;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</a:t>
            </a: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Adjacent sibling combinator</a:t>
            </a: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바로 동생 엘리먼트가 대상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span 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&lt;span&gt;hello&lt;/span&gt; 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(1)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&lt;p&gt; </a:t>
            </a:r>
            <a:r>
              <a:rPr lang="en-US" sz="2400" i="0" baseline="30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(1)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&lt;span&gt;one&lt;/span&gt; 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&lt;div&gt; </a:t>
            </a:r>
            <a:r>
              <a:rPr lang="en-US" sz="2400" i="0" baseline="30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    &lt;span&gt;two&lt;/span&gt; 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(3)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&lt;span&gt;three&lt;/span&gt; 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(4)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General sibling combinator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모든 동생 엘리먼트가 대상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~ </a:t>
            </a:r>
            <a:r>
              <a:rPr lang="en-US" sz="2400" i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{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&lt;span&gt;hello&lt;/span&gt; 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(1)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&lt;p&gt; </a:t>
            </a:r>
            <a:r>
              <a:rPr lang="en-US" sz="2400" i="0" baseline="30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(1)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&lt;span&gt;one&lt;/span&gt; 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&lt;div&gt; </a:t>
            </a:r>
            <a:r>
              <a:rPr lang="en-US" sz="2400" i="0" baseline="30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    &lt;span&gt;two&lt;/span&gt; 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(3)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&lt;span&gt;three&lt;/span&gt; </a:t>
            </a:r>
            <a:r>
              <a:rPr lang="en-US" sz="2400" i="0" baseline="30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(4)</a:t>
            </a:r>
            <a:r>
              <a:rPr lang="en-US" sz="2400" i="0" baseline="30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&lt;/p&gt;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Combinator</a:t>
            </a:r>
          </a:p>
        </p:txBody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있었으면 좋겠다-_-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Ascendant combinator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Parent combinator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Adjacent older sibling combinator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 i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General older sibling combinator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666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304800" y="4063975"/>
            <a:ext cx="9616674" cy="29754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Selectors 우선순위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 sz="32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 우선순위 </a:t>
            </a:r>
            <a:r>
              <a:rPr lang="en-US" sz="26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</a:p>
        </p:txBody>
      </p:sp>
      <p:sp>
        <p:nvSpPr>
          <p:cNvPr id="252" name="Shape 252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.foo { color:</a:t>
            </a: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#bar { color:</a:t>
            </a: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#bar.foo { color:</a:t>
            </a:r>
            <a:r>
              <a:rPr lang="en-US" sz="24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div .foo { color:</a:t>
            </a:r>
            <a:r>
              <a:rPr lang="en-US" sz="2400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div span { color:</a:t>
            </a:r>
            <a:r>
              <a:rPr lang="en-US" sz="2400">
                <a:solidFill>
                  <a:srgbClr val="D5A6BD"/>
                </a:solidFill>
                <a:latin typeface="courier new"/>
                <a:ea typeface="courier new"/>
                <a:cs typeface="courier new"/>
                <a:sym typeface="courier new"/>
              </a:rPr>
              <a:t>pink</a:t>
            </a: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 id="bar" class="foo"&gt;hello&lt;/span&gt;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 우선순위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33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셀렉터에 있는 ID Selector 의 갯수 (=a)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33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셀렉터에 있는 Class selector, Attribute selector, Pseudo-class 의 갯수 (=b)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33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셀렉터에 있는 Type selector, Pseudo-elements 의 갯수 (=c)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399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.foo { color:</a:t>
            </a:r>
            <a:r>
              <a:rPr lang="en-US" sz="2399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 </a:t>
            </a:r>
            <a:r>
              <a:rPr lang="en-US" sz="2399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399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399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a=0, b=1, c=0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#bar { color:</a:t>
            </a:r>
            <a:r>
              <a:rPr lang="en-US" sz="2399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 </a:t>
            </a:r>
            <a:r>
              <a:rPr lang="en-US" sz="2399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399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a=1, b=0, c=0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#bar.foo { color:</a:t>
            </a:r>
            <a:r>
              <a:rPr lang="en-US" sz="2399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 </a:t>
            </a:r>
            <a:r>
              <a:rPr lang="en-US" sz="2399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399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a=1, b=1, c=0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div .foo { color:</a:t>
            </a:r>
            <a:r>
              <a:rPr lang="en-US" sz="2399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 </a:t>
            </a:r>
            <a:r>
              <a:rPr lang="en-US" sz="2399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399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a=0, b=1, c=1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div span { color:</a:t>
            </a:r>
            <a:r>
              <a:rPr lang="en-US" sz="2399">
                <a:solidFill>
                  <a:srgbClr val="D5A6BD"/>
                </a:solidFill>
                <a:latin typeface="courier new"/>
                <a:ea typeface="courier new"/>
                <a:cs typeface="courier new"/>
                <a:sym typeface="courier new"/>
              </a:rPr>
              <a:t>pink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; } </a:t>
            </a:r>
            <a:r>
              <a:rPr lang="en-US" sz="2399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US" sz="2399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lang="en-US" sz="2399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a=0, b=0, c=2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399" b="1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    &lt;span id="bar" class="foo"&gt;hello&lt;/span&gt;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399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</a:p>
          <a:p>
            <a:pPr marL="381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xfrm>
            <a:off x="301925" y="302175"/>
            <a:ext cx="9624150" cy="9827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266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Selectors Quiz</a:t>
            </a:r>
          </a:p>
        </p:txBody>
      </p:sp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301925" y="1821275"/>
            <a:ext cx="9624150" cy="555637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&lt;style type="text/css"&gt;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.head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p:not(:first-child)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a:nth-of-type(2n) ~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a 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acronym[title*=Consortium] {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    background-color:</a:t>
            </a: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    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66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URL : </a:t>
            </a:r>
            <a:r>
              <a:rPr lang="en-US" sz="2666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http://bit.ly/bRPWna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 i="0" u="sng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  <a:hlinkClick r:id="rId3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2400" i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monochrome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1733</Words>
  <PresentationFormat>사용자 지정</PresentationFormat>
  <Paragraphs>489</Paragraphs>
  <Slides>41</Slides>
  <Notes>41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2" baseType="lpstr">
      <vt:lpstr>Custom Theme</vt:lpstr>
      <vt:lpstr>Selectors</vt:lpstr>
      <vt:lpstr>Selectors</vt:lpstr>
      <vt:lpstr>Selectors</vt:lpstr>
      <vt:lpstr>슬라이드 4</vt:lpstr>
      <vt:lpstr>Universal/Type selector (cont.)</vt:lpstr>
      <vt:lpstr>Universal/Type selector</vt:lpstr>
      <vt:lpstr>Attribute selector (cont.)</vt:lpstr>
      <vt:lpstr>Attribute selector (cont.)</vt:lpstr>
      <vt:lpstr>Attribute selector (cont.)</vt:lpstr>
      <vt:lpstr>Attribute selector (cont.)</vt:lpstr>
      <vt:lpstr>Attribute selector (cont.)</vt:lpstr>
      <vt:lpstr>Attribute selector (cont.)</vt:lpstr>
      <vt:lpstr>Attribute selector (cont.)</vt:lpstr>
      <vt:lpstr>Attribute selector</vt:lpstr>
      <vt:lpstr>Class selector</vt:lpstr>
      <vt:lpstr>ID selector</vt:lpstr>
      <vt:lpstr>selector 혼합 (cont.)</vt:lpstr>
      <vt:lpstr>selector 혼합</vt:lpstr>
      <vt:lpstr>Pseudo-class (cont.)</vt:lpstr>
      <vt:lpstr>Pseudo-class (cont.)</vt:lpstr>
      <vt:lpstr>Pseudo-class (cont.)</vt:lpstr>
      <vt:lpstr>Pseudo-class (cont.)</vt:lpstr>
      <vt:lpstr>Pseudo-class (cont.)</vt:lpstr>
      <vt:lpstr>Pseudo-class (cont.)</vt:lpstr>
      <vt:lpstr>Pseudo-class</vt:lpstr>
      <vt:lpstr>슬라이드 26</vt:lpstr>
      <vt:lpstr>Pseudo-Element (cont.)</vt:lpstr>
      <vt:lpstr>Pseudo-Element (cont.)</vt:lpstr>
      <vt:lpstr>Pseudo-Element</vt:lpstr>
      <vt:lpstr>사라진 Pseudo-class/element</vt:lpstr>
      <vt:lpstr>슬라이드 31</vt:lpstr>
      <vt:lpstr>Combinator</vt:lpstr>
      <vt:lpstr>Descendant combinator</vt:lpstr>
      <vt:lpstr>Child combinator</vt:lpstr>
      <vt:lpstr>Adjacent sibling combinator</vt:lpstr>
      <vt:lpstr>General sibling combinator</vt:lpstr>
      <vt:lpstr>Combinator</vt:lpstr>
      <vt:lpstr>슬라이드 38</vt:lpstr>
      <vt:lpstr>Selectors 우선순위 (cont.)</vt:lpstr>
      <vt:lpstr>Selectors 우선순위</vt:lpstr>
      <vt:lpstr>Selectors Quiz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Selectors</dc:title>
  <cp:lastModifiedBy>nostalgia10</cp:lastModifiedBy>
  <cp:revision>1</cp:revision>
  <dcterms:modified xsi:type="dcterms:W3CDTF">2016-06-02T16:34:40Z</dcterms:modified>
</cp:coreProperties>
</file>